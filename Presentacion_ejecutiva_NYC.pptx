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726a0f08cd1940b7" Type="http://schemas.openxmlformats.org/officeDocument/2006/relationships/extended-properties" Target="docProps/app.xml"/><Relationship Id="R96bcae8b4fdd447a" Type="http://schemas.openxmlformats.org/officeDocument/2006/relationships/officeDocument" Target="ppt/presentation.xml"/><Relationship Id="Rb64a99428e9a44ea" Type="http://schemas.openxmlformats.org/package/2006/relationships/metadata/core-properties" Target="docProps/core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9a557f5e9794066"/>
  </p:sldMasterIdLst>
  <p:notesMasterIdLst>
    <p:notesMasterId xmlns:r="http://schemas.openxmlformats.org/officeDocument/2006/relationships" r:id="Rebe726d701ea499c"/>
  </p:notesMasterIdLst>
  <p:sldIdLst>
    <p:sldId xmlns:r="http://schemas.openxmlformats.org/officeDocument/2006/relationships" id="256" r:id="R354107e3adb446c1"/>
    <p:sldId xmlns:r="http://schemas.openxmlformats.org/officeDocument/2006/relationships" id="257" r:id="R39b0d6d9b1d74adb"/>
    <p:sldId xmlns:r="http://schemas.openxmlformats.org/officeDocument/2006/relationships" id="258" r:id="Rb36d4c93a4984da6"/>
    <p:sldId xmlns:r="http://schemas.openxmlformats.org/officeDocument/2006/relationships" id="259" r:id="Rbb98168593d447e7"/>
    <p:sldId xmlns:r="http://schemas.openxmlformats.org/officeDocument/2006/relationships" id="260" r:id="R3691583cd33147e7"/>
    <p:sldId xmlns:r="http://schemas.openxmlformats.org/officeDocument/2006/relationships" id="261" r:id="R580ab8cb55db4f0b"/>
    <p:sldId xmlns:r="http://schemas.openxmlformats.org/officeDocument/2006/relationships" id="262" r:id="Ra1ee8bae0c414f99"/>
    <p:sldId xmlns:r="http://schemas.openxmlformats.org/officeDocument/2006/relationships" id="263" r:id="Re9da982b98da4b0c"/>
    <p:sldId xmlns:r="http://schemas.openxmlformats.org/officeDocument/2006/relationships" id="264" r:id="R817313b650234bc2"/>
    <p:sldId xmlns:ns0="http://schemas.openxmlformats.org/officeDocument/2006/relationships" id="266" ns0:id="rId16"/>
    <p:sldId xmlns:ns0="http://schemas.openxmlformats.org/officeDocument/2006/relationships" id="267" ns0:id="rId17"/>
    <p:sldId xmlns:r="http://schemas.openxmlformats.org/officeDocument/2006/relationships" id="265" r:id="Rae697a558d414e6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09a557f5e9794066" Type="http://schemas.openxmlformats.org/officeDocument/2006/relationships/slideMaster" Target="slideMasters/slideMaster1.xml"/><Relationship Id="R1f44fc750d5244b5" Type="http://schemas.openxmlformats.org/officeDocument/2006/relationships/presProps" Target="presProps.xml"/><Relationship Id="R354107e3adb446c1" Type="http://schemas.openxmlformats.org/officeDocument/2006/relationships/slide" Target="slides/slide1.xml"/><Relationship Id="R3691583cd33147e7" Type="http://schemas.openxmlformats.org/officeDocument/2006/relationships/slide" Target="slides/slide5.xml"/><Relationship Id="R37479e3cf1e4436d" Type="http://schemas.openxmlformats.org/officeDocument/2006/relationships/theme" Target="theme/theme1.xml"/><Relationship Id="R39b0d6d9b1d74adb" Type="http://schemas.openxmlformats.org/officeDocument/2006/relationships/slide" Target="slides/slide2.xml"/><Relationship Id="R580ab8cb55db4f0b" Type="http://schemas.openxmlformats.org/officeDocument/2006/relationships/slide" Target="slides/slide6.xml"/><Relationship Id="R817313b650234bc2" Type="http://schemas.openxmlformats.org/officeDocument/2006/relationships/slide" Target="slides/slide9.xml"/><Relationship Id="Ra1ee8bae0c414f99" Type="http://schemas.openxmlformats.org/officeDocument/2006/relationships/slide" Target="slides/slide7.xml"/><Relationship Id="Rae697a558d414e68" Type="http://schemas.openxmlformats.org/officeDocument/2006/relationships/slide" Target="slides/slide12.xml"/><Relationship Id="Rb36d4c93a4984da6" Type="http://schemas.openxmlformats.org/officeDocument/2006/relationships/slide" Target="slides/slide3.xml"/><Relationship Id="Rbb98168593d447e7" Type="http://schemas.openxmlformats.org/officeDocument/2006/relationships/slide" Target="slides/slide4.xml"/><Relationship Id="Rc1c9f73feec14179" Type="http://schemas.openxmlformats.org/officeDocument/2006/relationships/tableStyles" Target="tableStyles.xml"/><Relationship Id="Re9da982b98da4b0c" Type="http://schemas.openxmlformats.org/officeDocument/2006/relationships/slide" Target="slides/slide8.xml"/><Relationship Id="Rebe726d701ea499c" Type="http://schemas.openxmlformats.org/officeDocument/2006/relationships/notesMaster" Target="notesMasters/notesMaster1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52e2292b68da46a4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5bec6897a0804d13" Type="http://schemas.openxmlformats.org/officeDocument/2006/relationships/slide" Target="../slides/slide1.xml"/><Relationship Id="R7a4439ef442f4445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c34185e584134604" Type="http://schemas.openxmlformats.org/officeDocument/2006/relationships/slide" Target="../slides/slide2.xml"/><Relationship Id="Rdf165c96d3424b00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cb0e2cbe90334982" Type="http://schemas.openxmlformats.org/officeDocument/2006/relationships/slide" Target="../slides/slide3.xml"/><Relationship Id="Rf698b72d430f4b55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8f8b11d8f2024aa0" Type="http://schemas.openxmlformats.org/officeDocument/2006/relationships/slide" Target="../slides/slide4.xml"/><Relationship Id="R9d86228a339e4610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7d835db1f53d41cf" Type="http://schemas.openxmlformats.org/officeDocument/2006/relationships/notesMaster" Target="../notesMasters/notesMaster1.xml"/><Relationship Id="Ra2facbc815614468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9a8204db67dd407f" Type="http://schemas.openxmlformats.org/officeDocument/2006/relationships/slide" Target="../slides/slide6.xml"/><Relationship Id="Rad0f930de45846ec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408dbc968d92442d" Type="http://schemas.openxmlformats.org/officeDocument/2006/relationships/notesMaster" Target="../notesMasters/notesMaster1.xml"/><Relationship Id="Raa678673d28948cf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119fff66a300434f" Type="http://schemas.openxmlformats.org/officeDocument/2006/relationships/slide" Target="../slides/slide8.xml"/><Relationship Id="Rd433d5920037446d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00be942e88764df7" Type="http://schemas.openxmlformats.org/officeDocument/2006/relationships/slide" Target="../slides/slide9.xml"/><Relationship Id="R5d58a3e7db28422b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62a82331c7394b41" Type="http://schemas.openxmlformats.org/officeDocument/2006/relationships/slide" Target="../slides/slide12.xml"/><Relationship Id="R7ca671220c434eae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0:45. Alcance: ciudad de Nueva York. Fuentes y análisis preparados al 30 de septiembre de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1:30. Se busca autorización para fase de validación y diseño. No se atribuyen causas en esta entrega.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1:30. Son datos de contexto con periodos distintos. Fuentes: https://www.census.gov/quickfacts/fact/table/newyorkcitynewyork/ y https://dol.ny.gov/labor-statistics-new-york-city-region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1:30. Fuentes oficiales: https://data.cityofnewyork.us/resource/uip8-fykc.json ; https://data.cityofnewyork.us/resource/cts7-vksw.json ; https://data.cityofnewyork.us/resource/bm4k-52h4.json ; https://data.cityofnewyork.us/resource/f9bf-2cp4.json ; https://reports.collegeboard.org/media/pdf/2024-new-york-sat-suite-of-assessments-annual-report-ADA.pdf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1:30. Resultados calculados sobre archivos incluidos. Las vistas API tenían, al consultar, 141 870 arrestos, 4 551 002 vehículos, 68 273 personas y 478 escuelas. Los recuentos de las vistas pueden cambiar. Manifiesto local registra fecha y hash.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1:30. Notebook ejecutado localmente. Los resultados del extracto son diagnósticos. No se calculan tasas de ciudad a partir de ese subconjunto. El informe enumera las ocho preguntas de negocio sin responderlas.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1:30. College Board advierte por participación y uso de puntajes. Referencia: https://reports.collegeboard.org/media/pdf/2024-new-york-sat-suite-of-assessments-annual-report-ADA.pdf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1:30. Son características verificadas de la sesión local sobre extractos. La memoria del driver no se configuró explícitamente. La clave de persona es serialno + sporder; para vehículos unique_id y para siniestro collision_id. No se atribuye un clúster institucional.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1:15. Las ocho preguntas completas aparecen en el informe. Incluyen concentración y tasas de arrestos, lesiones graves y riesgo vial, contexto ponderado de pobreza y efecto de pilotos. Son acciones propuestas, no efectos probados.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1:00. Cierre y preguntas. Total aproximado: 15 minutos.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0:45. La dirección antigua del PDF ya no existe. El script inspeccionó el HTML de la página actual y extrajo la tabla pública de Tableau. Los cinco boroughs se identifican por condado. No usar estas cifras sin ajuste como denominador de arrestos de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0:45. Open-Meteo aporta una serie real de reanálisis para las coordenadas de Nueva York. El gráfico muestra promedios mensuales. No se ha ejecutado OpenWeatherMap porque no hay clave configurada; el código aceptará OPENWEATHER_API_KEY. Esta serie no demuestra causalidad sobre siniestros.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ca5198da4c9f4ca2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5449d98f054e4c78" Type="http://schemas.openxmlformats.org/officeDocument/2006/relationships/slideLayout" Target="../slideLayouts/slideLayout1.xml"/><Relationship Id="R9852f5deb1c44589" Type="http://schemas.openxmlformats.org/officeDocument/2006/relationships/theme" Target="theme/theme2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449d98f054e4c7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1a6909afd7ef4dc0" Type="http://schemas.openxmlformats.org/officeDocument/2006/relationships/slideLayout" Target="../slideLayouts/slideLayout1.xml"/><Relationship Id="R41319e1121fb45a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cb83d55049c0460d" Type="http://schemas.openxmlformats.org/officeDocument/2006/relationships/notesSlide" Target="../notesSlides/notesSlide2.xml"/><Relationship Id="Rde46291450364453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c94d16d0b8af4c7b" Type="http://schemas.openxmlformats.org/officeDocument/2006/relationships/slideLayout" Target="../slideLayouts/slideLayout1.xml"/><Relationship Id="Rfb07f28df11146f0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5e6cbcc62b1c426b" Type="http://schemas.openxmlformats.org/officeDocument/2006/relationships/slideLayout" Target="../slideLayouts/slideLayout1.xml"/><Relationship Id="Ra71505dcff8c44de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60692889e4864574" Type="http://schemas.openxmlformats.org/officeDocument/2006/relationships/notesSlide" Target="../notesSlides/notesSlide5.xml"/><Relationship Id="R684081b7d9df49c0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dae98e3452b14a40" Type="http://schemas.openxmlformats.org/officeDocument/2006/relationships/notesSlide" Target="../notesSlides/notesSlide6.xml"/><Relationship Id="Reefc241100204bfd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d6d03ca19a37464b" Type="http://schemas.openxmlformats.org/officeDocument/2006/relationships/slideLayout" Target="../slideLayouts/slideLayout1.xml"/><Relationship Id="Re84398f4d1734915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1e1098177fca4ad1" Type="http://schemas.openxmlformats.org/officeDocument/2006/relationships/notesSlide" Target="../notesSlides/notesSlide8.xml"/><Relationship Id="Rd09a380c5dbb4d8d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836e73a9065e43ea" Type="http://schemas.openxmlformats.org/officeDocument/2006/relationships/slideLayout" Target="../slideLayouts/slideLayout1.xml"/><Relationship Id="Rd2166e654f3a436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2.xml"/></Relationships>
</file>

<file path=ppt/slides/_rels/slide12.xml.rels><?xml version='1.0' encoding='UTF-8' standalone='yes'?>
<Relationships xmlns="http://schemas.openxmlformats.org/package/2006/relationships"><Relationship Id="R43edea77b5ca4a19" Type="http://schemas.openxmlformats.org/officeDocument/2006/relationships/slideLayout" Target="../slideLayouts/slideLayout1.xml"/><Relationship Id="R4f0bf4d36e1448e3" Type="http://schemas.openxmlformats.org/officeDocument/2006/relationships/notesSlide" Target="../notesSlides/notesSlide10.xml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E6F45B-5B7A-418A-A1EA-7A83336B6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10820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75" b="1">
                <a:solidFill>
                  <a:srgbClr val="162C3B"/>
                </a:solidFill>
                <a:latin typeface="Aptos"/>
                <a:ea typeface="Aptos"/>
                <a:cs typeface="Aptos"/>
              </a:defRPr>
            </a:pPr>
            <a:r>
              <a:rPr sz="3675" b="1">
                <a:solidFill>
                  <a:srgbClr val="162C3B"/>
                </a:solidFill>
                <a:latin typeface="Aptos"/>
                <a:ea typeface="Aptos"/>
                <a:cs typeface="Aptos"/>
              </a:rPr>
              <a:t>Plan analítico para Nueva York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3AE827-B519-4B73-A117-E75EFA100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33625"/>
            <a:ext cx="9525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315A74"/>
                </a:solidFill>
                <a:latin typeface="Aptos"/>
                <a:ea typeface="Aptos"/>
                <a:cs typeface="Aptos"/>
              </a:defRPr>
            </a:pPr>
            <a:r>
              <a:rPr sz="2325" b="0">
                <a:solidFill>
                  <a:srgbClr val="315A74"/>
                </a:solidFill>
                <a:latin typeface="Aptos"/>
                <a:ea typeface="Aptos"/>
                <a:cs typeface="Aptos"/>
              </a:rPr>
              <a:t>Arrestos y seguridad vial</a:t>
            </a:r>
          </a:p>
          <a:p xmlns:a="http://schemas.openxmlformats.org/drawingml/2006/main">
            <a:pPr>
              <a:defRPr sz="2325" b="0">
                <a:solidFill>
                  <a:srgbClr val="315A74"/>
                </a:solidFill>
                <a:latin typeface="Aptos"/>
                <a:ea typeface="Aptos"/>
                <a:cs typeface="Aptos"/>
              </a:defRPr>
            </a:pPr>
            <a:r>
              <a:rPr sz="2325" b="0">
                <a:solidFill>
                  <a:srgbClr val="315A74"/>
                </a:solidFill>
                <a:latin typeface="Aptos"/>
                <a:ea typeface="Aptos"/>
                <a:cs typeface="Aptos"/>
              </a:rPr>
              <a:t>Primera entrega | 2 de octubre de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4F34EE-5FF8-4473-B51E-7F7FB085C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28650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27585"/>
                </a:solidFill>
                <a:latin typeface="Aptos"/>
              </a:defRPr>
            </a:pPr>
            <a:r>
              <a:t>01 / 12</a:t>
            </a:r>
          </a:p>
        </p:txBody>
      </p:sp>
    </p:spTree>
    <p:extLst>
      <p:ext uri="{BB962C8B-B14F-4D97-AF65-F5344CB8AC3E}">
        <p14:creationId xmlns:p14="http://schemas.microsoft.com/office/powerpoint/2010/main" val="182369028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D6F63F-B609-4C69-B619-1E5AB06EB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10820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62C3B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162C3B"/>
                </a:solidFill>
                <a:latin typeface="Aptos"/>
                <a:ea typeface="Aptos"/>
                <a:cs typeface="Aptos"/>
              </a:rPr>
              <a:t>Decisión que necesita el gobierno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DB0AEB-D05F-412B-86E7-912DCB3E7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95450"/>
            <a:ext cx="103346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62C3B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62C3B"/>
                </a:solidFill>
                <a:latin typeface="Aptos"/>
                <a:ea typeface="Aptos"/>
                <a:cs typeface="Aptos"/>
              </a:rPr>
              <a:t>• Construir indicadores comparables antes de elegir zonas piloto.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BBEC21-DB6C-4C35-B6AA-0101424A3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47950"/>
            <a:ext cx="103346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62C3B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62C3B"/>
                </a:solidFill>
                <a:latin typeface="Aptos"/>
                <a:ea typeface="Aptos"/>
                <a:cs typeface="Aptos"/>
              </a:rPr>
              <a:t>• Validar colisiones con una tabla por siniestro y resultados de lesiones.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951BD5-6E92-4FAC-8B99-F44E4E677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00450"/>
            <a:ext cx="103346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62C3B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62C3B"/>
                </a:solidFill>
                <a:latin typeface="Aptos"/>
                <a:ea typeface="Aptos"/>
                <a:cs typeface="Aptos"/>
              </a:rPr>
              <a:t>• Revisar equidad, privacidad y cambios de registro policial.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A2787E-98A6-4BB1-954B-14B44F727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28650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27585"/>
                </a:solidFill>
                <a:latin typeface="Aptos"/>
              </a:defRPr>
            </a:pPr>
            <a:r>
              <a:t>02 / 12</a:t>
            </a:r>
          </a:p>
        </p:txBody>
      </p:sp>
    </p:spTree>
    <p:extLst>
      <p:ext uri="{BB962C8B-B14F-4D97-AF65-F5344CB8AC3E}">
        <p14:creationId xmlns:p14="http://schemas.microsoft.com/office/powerpoint/2010/main" val="90035330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CC9F01-A211-4D32-955F-FB31F8178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10820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62C3B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162C3B"/>
                </a:solidFill>
                <a:latin typeface="Aptos"/>
                <a:ea typeface="Aptos"/>
                <a:cs typeface="Aptos"/>
              </a:rPr>
              <a:t>Contexto de la ciudad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10BAB9-7AD3-4D87-A35C-42443A9EF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95450"/>
            <a:ext cx="103346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62C3B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62C3B"/>
                </a:solidFill>
                <a:latin typeface="Aptos"/>
                <a:ea typeface="Aptos"/>
                <a:cs typeface="Aptos"/>
              </a:rPr>
              <a:t>• 8 804 190 habitantes en el Censo 2020.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CDEFEE-66A9-4606-BC0D-8B3B90B13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47950"/>
            <a:ext cx="103346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62C3B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62C3B"/>
                </a:solidFill>
                <a:latin typeface="Aptos"/>
                <a:ea typeface="Aptos"/>
                <a:cs typeface="Aptos"/>
              </a:rPr>
              <a:t>• Ingreso mediano de hogares: USD 80 483 (2020–2024, dólares de 2024).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3E116E-51D9-4971-802E-F85BE942E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00450"/>
            <a:ext cx="103346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62C3B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62C3B"/>
                </a:solidFill>
                <a:latin typeface="Aptos"/>
                <a:ea typeface="Aptos"/>
                <a:cs typeface="Aptos"/>
              </a:rPr>
              <a:t>• Pobreza federal: 17,9 % (QuickFacts).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C9DD68-538C-4198-B2BE-75FFE01D8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52950"/>
            <a:ext cx="103346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62C3B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62C3B"/>
                </a:solidFill>
                <a:latin typeface="Aptos"/>
                <a:ea typeface="Aptos"/>
                <a:cs typeface="Aptos"/>
              </a:rPr>
              <a:t>• Desempleo de NYC: 4,8 % en agosto de 2026.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9BCB82-F454-4704-A50F-BDD14EA72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28650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27585"/>
                </a:solidFill>
                <a:latin typeface="Aptos"/>
              </a:defRPr>
            </a:pPr>
            <a:r>
              <a:t>03 / 12</a:t>
            </a:r>
          </a:p>
        </p:txBody>
      </p:sp>
    </p:spTree>
    <p:extLst>
      <p:ext uri="{BB962C8B-B14F-4D97-AF65-F5344CB8AC3E}">
        <p14:creationId xmlns:p14="http://schemas.microsoft.com/office/powerpoint/2010/main" val="186412119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3BF958-FC1E-44F5-8749-90676924D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10820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62C3B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162C3B"/>
                </a:solidFill>
                <a:latin typeface="Aptos"/>
                <a:ea typeface="Aptos"/>
                <a:cs typeface="Aptos"/>
              </a:rPr>
              <a:t>Cuatro fuentes, cuatro unidades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9B592A-E1C0-40E8-998A-E42C99CE7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95450"/>
            <a:ext cx="103346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62C3B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62C3B"/>
                </a:solidFill>
                <a:latin typeface="Aptos"/>
                <a:ea typeface="Aptos"/>
                <a:cs typeface="Aptos"/>
              </a:rPr>
              <a:t>• Arrestos NYPD: un registro de arresto.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8312D9-5C79-483F-9B45-1530CC467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47950"/>
            <a:ext cx="103346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62C3B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62C3B"/>
                </a:solidFill>
                <a:latin typeface="Aptos"/>
                <a:ea typeface="Aptos"/>
                <a:cs typeface="Aptos"/>
              </a:rPr>
              <a:t>• Pobreza NYC 2018: persona con peso de encuesta.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2DBC9B-41AA-4B92-B1F4-0E2CF267B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00450"/>
            <a:ext cx="103346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62C3B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62C3B"/>
                </a:solidFill>
                <a:latin typeface="Aptos"/>
                <a:ea typeface="Aptos"/>
                <a:cs typeface="Aptos"/>
              </a:rPr>
              <a:t>• Colisiones Vehicles: un vehículo involucrado.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2D575A-EA03-4CD3-B6C3-0DEAAA188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52950"/>
            <a:ext cx="103346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62C3B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62C3B"/>
                </a:solidFill>
                <a:latin typeface="Aptos"/>
                <a:ea typeface="Aptos"/>
                <a:cs typeface="Aptos"/>
              </a:rPr>
              <a:t>• SAT 2012: una escuela; SAT 2024: contexto estatal.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AF7F98-B036-4F05-9D62-172FD66B9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28650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27585"/>
                </a:solidFill>
                <a:latin typeface="Aptos"/>
              </a:defRPr>
            </a:pPr>
            <a:r>
              <a:t>04 / 12</a:t>
            </a:r>
          </a:p>
        </p:txBody>
      </p:sp>
    </p:spTree>
    <p:extLst>
      <p:ext uri="{BB962C8B-B14F-4D97-AF65-F5344CB8AC3E}">
        <p14:creationId xmlns:p14="http://schemas.microsoft.com/office/powerpoint/2010/main" val="28086593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BFB655-881D-4595-B5B5-AC79E449C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10820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62C3B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162C3B"/>
                </a:solidFill>
                <a:latin typeface="Aptos"/>
                <a:ea typeface="Aptos"/>
                <a:cs typeface="Aptos"/>
              </a:rPr>
              <a:t>Cobertura de los extractos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E04DDE-B55C-4D79-A34C-BADE42422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95450"/>
            <a:ext cx="103346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62C3B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62C3B"/>
                </a:solidFill>
                <a:latin typeface="Aptos"/>
                <a:ea typeface="Aptos"/>
                <a:cs typeface="Aptos"/>
              </a:rPr>
              <a:t>• Arrestos: 10 000 filas, del 1 al 13 de enero de 2026.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013FEB-31F1-4F06-B5CF-B6793D44E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47950"/>
            <a:ext cx="103346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62C3B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62C3B"/>
                </a:solidFill>
                <a:latin typeface="Aptos"/>
                <a:ea typeface="Aptos"/>
                <a:cs typeface="Aptos"/>
              </a:rPr>
              <a:t>• Vehículos: 3 000 filas, con 2 999 collision_id distintos.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AB79F6-AC24-4EEF-BEE8-B1F11D9C9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00450"/>
            <a:ext cx="103346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62C3B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62C3B"/>
                </a:solidFill>
                <a:latin typeface="Aptos"/>
                <a:ea typeface="Aptos"/>
                <a:cs typeface="Aptos"/>
              </a:rPr>
              <a:t>• Pobreza: 3 000 filas; SAT 2012: 478 escuelas.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97D73B-C2E1-4F78-B01F-682528B79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52950"/>
            <a:ext cx="103346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62C3B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62C3B"/>
                </a:solidFill>
                <a:latin typeface="Aptos"/>
                <a:ea typeface="Aptos"/>
                <a:cs typeface="Aptos"/>
              </a:rPr>
              <a:t>• Los extractos ordenados por identificador no son muestras aleatorias.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BBB776-2831-40BF-8A2C-8CFE225B1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28650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27585"/>
                </a:solidFill>
                <a:latin typeface="Aptos"/>
              </a:defRPr>
            </a:pPr>
            <a:r>
              <a:t>05 / 12</a:t>
            </a:r>
          </a:p>
        </p:txBody>
      </p:sp>
    </p:spTree>
    <p:extLst>
      <p:ext uri="{BB962C8B-B14F-4D97-AF65-F5344CB8AC3E}">
        <p14:creationId xmlns:p14="http://schemas.microsoft.com/office/powerpoint/2010/main" val="6539416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2C015C-F666-4FFC-AC6E-B6E88F4F3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10820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62C3B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162C3B"/>
                </a:solidFill>
                <a:latin typeface="Aptos"/>
                <a:ea typeface="Aptos"/>
                <a:cs typeface="Aptos"/>
              </a:rPr>
              <a:t>Exploración en PySpark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9C84BE-A5E0-4ECB-AAB9-EC3A2C9D2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95450"/>
            <a:ext cx="103346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62C3B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62C3B"/>
                </a:solidFill>
                <a:latin typeface="Aptos"/>
                <a:ea typeface="Aptos"/>
                <a:cs typeface="Aptos"/>
              </a:rPr>
              <a:t>• Diez análisis descriptivos y dos gráficas del extracto.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3BF8DE-E63D-4957-9978-CD2081DA9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47950"/>
            <a:ext cx="103346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62C3B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62C3B"/>
                </a:solidFill>
                <a:latin typeface="Aptos"/>
                <a:ea typeface="Aptos"/>
                <a:cs typeface="Aptos"/>
              </a:rPr>
              <a:t>• Calidad por campo y supresión de puntajes SAT.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A0F59F-8764-4ED5-AE4F-D0A379FCC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00450"/>
            <a:ext cx="103346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62C3B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62C3B"/>
                </a:solidFill>
                <a:latin typeface="Aptos"/>
                <a:ea typeface="Aptos"/>
                <a:cs typeface="Aptos"/>
              </a:rPr>
              <a:t>• Diccionario trazable de 111 atributos.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14EFCA-60F0-40D2-B4A7-1186E1853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52950"/>
            <a:ext cx="103346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62C3B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62C3B"/>
                </a:solidFill>
                <a:latin typeface="Aptos"/>
                <a:ea typeface="Aptos"/>
                <a:cs typeface="Aptos"/>
              </a:rPr>
              <a:t>• Ocho preguntas abiertas para la entrega final.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E9C6FE-A25B-413D-8673-AB635C7A1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28650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27585"/>
                </a:solidFill>
                <a:latin typeface="Aptos"/>
              </a:defRPr>
            </a:pPr>
            <a:r>
              <a:t>06 / 12</a:t>
            </a:r>
          </a:p>
        </p:txBody>
      </p:sp>
    </p:spTree>
    <p:extLst>
      <p:ext uri="{BB962C8B-B14F-4D97-AF65-F5344CB8AC3E}">
        <p14:creationId xmlns:p14="http://schemas.microsoft.com/office/powerpoint/2010/main" val="52873218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BFA270-C8E5-46A8-9511-EFF80042A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10820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62C3B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162C3B"/>
                </a:solidFill>
                <a:latin typeface="Aptos"/>
                <a:ea typeface="Aptos"/>
                <a:cs typeface="Aptos"/>
              </a:rPr>
              <a:t>Límites que cambian la interpretación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72F7BE-3832-4041-9EAD-B6F192810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95450"/>
            <a:ext cx="103346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62C3B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62C3B"/>
                </a:solidFill>
                <a:latin typeface="Aptos"/>
                <a:ea typeface="Aptos"/>
                <a:cs typeface="Aptos"/>
              </a:rPr>
              <a:t>• Varias filas de vehículos pueden pertenecer al mismo siniestro.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10A0A2-2AF4-4F35-B830-8308B0C4A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47950"/>
            <a:ext cx="103346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62C3B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62C3B"/>
                </a:solidFill>
                <a:latin typeface="Aptos"/>
                <a:ea typeface="Aptos"/>
                <a:cs typeface="Aptos"/>
              </a:rPr>
              <a:t>• Arrestos también reflejan prácticas de registro y vigilancia.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BBA89B-78C8-45AD-83D9-97A2EA7E6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00450"/>
            <a:ext cx="103346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62C3B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62C3B"/>
                </a:solidFill>
                <a:latin typeface="Aptos"/>
                <a:ea typeface="Aptos"/>
                <a:cs typeface="Aptos"/>
              </a:rPr>
              <a:t>• Pobreza 2018 y SAT 2012 no comparten periodo con 2026.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B97B70-10CF-47E1-BABD-893566D54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52950"/>
            <a:ext cx="103346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62C3B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62C3B"/>
                </a:solidFill>
                <a:latin typeface="Aptos"/>
                <a:ea typeface="Aptos"/>
                <a:cs typeface="Aptos"/>
              </a:rPr>
              <a:t>• SAT 2024 informa el estado y tiene otra población y escala.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6EFB59-BA32-434F-BF75-54CD03912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28650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27585"/>
                </a:solidFill>
                <a:latin typeface="Aptos"/>
              </a:defRPr>
            </a:pPr>
            <a:r>
              <a:t>07 / 12</a:t>
            </a:r>
          </a:p>
        </p:txBody>
      </p:sp>
    </p:spTree>
    <p:extLst>
      <p:ext uri="{BB962C8B-B14F-4D97-AF65-F5344CB8AC3E}">
        <p14:creationId xmlns:p14="http://schemas.microsoft.com/office/powerpoint/2010/main" val="125037610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519157-359D-4CCA-B2FF-C711E97FC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10820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62C3B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162C3B"/>
                </a:solidFill>
                <a:latin typeface="Aptos"/>
                <a:ea typeface="Aptos"/>
                <a:cs typeface="Aptos"/>
              </a:rPr>
              <a:t>Ejecución y control de calidad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926ED6-524A-4AE8-AAF0-178EE97D5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95450"/>
            <a:ext cx="103346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62C3B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62C3B"/>
                </a:solidFill>
                <a:latin typeface="Aptos"/>
                <a:ea typeface="Aptos"/>
                <a:cs typeface="Aptos"/>
              </a:rPr>
              <a:t>• Spark 4.0.1 en modo local[*], observado en esta ejecución.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6491BE-0F4B-48D8-B25D-1E194AD30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47950"/>
            <a:ext cx="103346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62C3B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62C3B"/>
                </a:solidFill>
                <a:latin typeface="Aptos"/>
                <a:ea typeface="Aptos"/>
                <a:cs typeface="Aptos"/>
              </a:rPr>
              <a:t>• Paralelismo informado: 16; Python 3.12.14 y Java 22.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C5AECF-C8FD-4F53-B612-0AC146BED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00450"/>
            <a:ext cx="103346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62C3B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62C3B"/>
                </a:solidFill>
                <a:latin typeface="Aptos"/>
                <a:ea typeface="Aptos"/>
                <a:cs typeface="Aptos"/>
              </a:rPr>
              <a:t>• Fechas, claves, nulos y valores suprimidos revisados.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336005-20A0-4A87-82EA-04FB5BAD1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52950"/>
            <a:ext cx="103346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62C3B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62C3B"/>
                </a:solidFill>
                <a:latin typeface="Aptos"/>
                <a:ea typeface="Aptos"/>
                <a:cs typeface="Aptos"/>
              </a:rPr>
              <a:t>• Los recursos de un clúster remoto no están documentados.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83E363-5245-448C-AEA4-C629028D1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28650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27585"/>
                </a:solidFill>
                <a:latin typeface="Aptos"/>
              </a:defRPr>
            </a:pPr>
            <a:r>
              <a:t>08 / 12</a:t>
            </a:r>
          </a:p>
        </p:txBody>
      </p:sp>
    </p:spTree>
    <p:extLst>
      <p:ext uri="{BB962C8B-B14F-4D97-AF65-F5344CB8AC3E}">
        <p14:creationId xmlns:p14="http://schemas.microsoft.com/office/powerpoint/2010/main" val="46699305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8F1C18-18FC-4D51-A0AE-A83340D4A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10820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62C3B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162C3B"/>
                </a:solidFill>
                <a:latin typeface="Aptos"/>
                <a:ea typeface="Aptos"/>
                <a:cs typeface="Aptos"/>
              </a:rPr>
              <a:t>Preguntas y plan de acción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C5A154-368D-45A2-9D16-0361F8F03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95450"/>
            <a:ext cx="103346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62C3B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62C3B"/>
                </a:solidFill>
                <a:latin typeface="Aptos"/>
                <a:ea typeface="Aptos"/>
                <a:cs typeface="Aptos"/>
              </a:rPr>
              <a:t>• Ocho preguntas para la fase final, sin respuesta aún.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77D160-DBB7-4C3C-BFCC-4302B8B88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47950"/>
            <a:ext cx="103346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62C3B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62C3B"/>
                </a:solidFill>
                <a:latin typeface="Aptos"/>
                <a:ea typeface="Aptos"/>
                <a:cs typeface="Aptos"/>
              </a:rPr>
              <a:t>• Completar la descarga e incorporar Collisions Crashes.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9257E4-9105-4DF3-9AD6-7E54BBAC1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00450"/>
            <a:ext cx="103346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62C3B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62C3B"/>
                </a:solidFill>
                <a:latin typeface="Aptos"/>
                <a:ea typeface="Aptos"/>
                <a:cs typeface="Aptos"/>
              </a:rPr>
              <a:t>• Calcular tasas con exposición adecuada.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9DFFC8-6FFF-495C-A28A-18ECA1983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52950"/>
            <a:ext cx="103346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62C3B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62C3B"/>
                </a:solidFill>
                <a:latin typeface="Aptos"/>
                <a:ea typeface="Aptos"/>
                <a:cs typeface="Aptos"/>
              </a:rPr>
              <a:t>• Diseñar y evaluar pilotos en zonas comparables.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020F0A-B53A-4EF2-8691-5D3C622DA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28650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27585"/>
                </a:solidFill>
                <a:latin typeface="Aptos"/>
              </a:defRPr>
            </a:pPr>
            <a:r>
              <a:t>09 / 12</a:t>
            </a:r>
          </a:p>
        </p:txBody>
      </p:sp>
    </p:spTree>
    <p:extLst>
      <p:ext uri="{BB962C8B-B14F-4D97-AF65-F5344CB8AC3E}">
        <p14:creationId xmlns:p14="http://schemas.microsoft.com/office/powerpoint/2010/main" val="2142883932"/>
      </p:ext>
    </p:extLst>
  </p:cSld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21207"/>
            <a:ext cx="1081735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25" b="1">
                <a:solidFill>
                  <a:srgbClr val="162C3B"/>
                </a:solidFill>
                <a:latin typeface="Aptos"/>
              </a:defRPr>
            </a:pPr>
            <a:r>
              <a:t>Bono: población por borough</a:t>
            </a:r>
          </a:p>
        </p:txBody>
      </p:sp>
      <p:pic>
        <p:nvPicPr>
          <p:cNvPr id="3" name="Picture 2" descr="bono_poblacion_ny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08760"/>
            <a:ext cx="6720840" cy="377022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726679" y="1691640"/>
            <a:ext cx="36850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162C3B"/>
                </a:solidFill>
                <a:latin typeface="Aptos"/>
              </a:defRPr>
            </a:pPr>
            <a:r>
              <a:t>Extracción real de 195 filas del tablero oficial actualizado.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26679" y="2743200"/>
            <a:ext cx="36850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162C3B"/>
                </a:solidFill>
                <a:latin typeface="Aptos"/>
              </a:defRPr>
            </a:pPr>
            <a:r>
              <a:t>Promedio anual 2019–2023: Brooklyn 2,66 millones; Staten Island 0,49 millones.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26679" y="3794760"/>
            <a:ext cx="36850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162C3B"/>
                </a:solidFill>
                <a:latin typeface="Aptos"/>
              </a:defRPr>
            </a:pPr>
            <a:r>
              <a:t>Es contexto territorial; las tasas requieren periodos comparables.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989320"/>
            <a:ext cx="9966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0">
                <a:solidFill>
                  <a:srgbClr val="627585"/>
                </a:solidFill>
                <a:latin typeface="Aptos"/>
              </a:defRPr>
            </a:pPr>
            <a:r>
              <a:t>Fuente: NYS Department of Health, Population Estimates by County and PUMA, 2019–2023.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95560" y="6291072"/>
            <a:ext cx="137160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27585"/>
                </a:solidFill>
                <a:latin typeface="Aptos"/>
              </a:defRPr>
            </a:pPr>
            <a: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21207"/>
            <a:ext cx="1081735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25" b="1">
                <a:solidFill>
                  <a:srgbClr val="162C3B"/>
                </a:solidFill>
                <a:latin typeface="Aptos"/>
              </a:defRPr>
            </a:pPr>
            <a:r>
              <a:t>Bono: clima con una API abierta</a:t>
            </a:r>
          </a:p>
        </p:txBody>
      </p:sp>
      <p:pic>
        <p:nvPicPr>
          <p:cNvPr id="3" name="Picture 2" descr="bono_clima_mens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08760"/>
            <a:ext cx="6720840" cy="36804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726679" y="1691640"/>
            <a:ext cx="36850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162C3B"/>
                </a:solidFill>
                <a:latin typeface="Aptos"/>
              </a:defRPr>
            </a:pPr>
            <a:r>
              <a:t>Serie ERA5 de 1 826 días completos, 2021–2025.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26679" y="2743200"/>
            <a:ext cx="36850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162C3B"/>
                </a:solidFill>
                <a:latin typeface="Aptos"/>
              </a:defRPr>
            </a:pPr>
            <a:r>
              <a:t>Julio: 25,79 °C de temperatura media mensual.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26679" y="3794760"/>
            <a:ext cx="36850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162C3B"/>
                </a:solidFill>
                <a:latin typeface="Aptos"/>
              </a:defRPr>
            </a:pPr>
            <a:r>
              <a:t>OpenWeatherMap: consulta preparada, pendiente de clave.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989320"/>
            <a:ext cx="9966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0">
                <a:solidFill>
                  <a:srgbClr val="627585"/>
                </a:solidFill>
                <a:latin typeface="Aptos"/>
              </a:defRPr>
            </a:pPr>
            <a:r>
              <a:t>Fuente ejecutada: Open-Meteo Historical Weather API, ERA5. OpenWeatherMap requiere clave.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95560" y="6291072"/>
            <a:ext cx="137160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27585"/>
                </a:solidFill>
                <a:latin typeface="Aptos"/>
              </a:defRPr>
            </a:pPr>
            <a: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58F92B-A2A8-48E6-A536-4DFC947E3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10820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62C3B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162C3B"/>
                </a:solidFill>
                <a:latin typeface="Aptos"/>
                <a:ea typeface="Aptos"/>
                <a:cs typeface="Aptos"/>
              </a:rPr>
              <a:t>Próxima decisión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DC47B0-3F03-45A0-94FD-BC0B074B4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95450"/>
            <a:ext cx="103346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62C3B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62C3B"/>
                </a:solidFill>
                <a:latin typeface="Aptos"/>
                <a:ea typeface="Aptos"/>
                <a:cs typeface="Aptos"/>
              </a:rPr>
              <a:t>• Aprobar la validación de datos completos y el diseño de pilotos.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9B7011-86FC-4E7D-B933-8CFF1F167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47950"/>
            <a:ext cx="103346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62C3B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62C3B"/>
                </a:solidFill>
                <a:latin typeface="Aptos"/>
                <a:ea typeface="Aptos"/>
                <a:cs typeface="Aptos"/>
              </a:rPr>
              <a:t>• Pedir indicadores con definiciones públicas y controles de calidad.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A3DAC3-0172-4ACC-A300-9E13F36D9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00450"/>
            <a:ext cx="103346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62C3B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62C3B"/>
                </a:solidFill>
                <a:latin typeface="Aptos"/>
                <a:ea typeface="Aptos"/>
                <a:cs typeface="Aptos"/>
              </a:rPr>
              <a:t>• Posponer un ranking de zonas hasta verificar geografía y denominadores.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A741A4-E278-4814-82FF-B152DAC5C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28650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27585"/>
                </a:solidFill>
                <a:latin typeface="Aptos"/>
              </a:defRPr>
            </a:pPr>
            <a:r>
              <a:t>12 / 12</a:t>
            </a:r>
          </a:p>
        </p:txBody>
      </p:sp>
    </p:spTree>
    <p:extLst>
      <p:ext uri="{BB962C8B-B14F-4D97-AF65-F5344CB8AC3E}">
        <p14:creationId xmlns:p14="http://schemas.microsoft.com/office/powerpoint/2010/main" val="51132005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2026-10-03T03:25:53.2890000Z</dcterms:created>
  <dcterms:modified xsi:type="dcterms:W3CDTF">2026-10-03T03:25:53.2890000Z</dcterms:modified>
</coreProperties>
</file>