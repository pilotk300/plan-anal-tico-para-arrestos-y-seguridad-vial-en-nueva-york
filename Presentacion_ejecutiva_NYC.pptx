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4a99428e9a44ea" /><Relationship Type="http://schemas.openxmlformats.org/officeDocument/2006/relationships/extended-properties" Target="/docProps/app.xml" Id="R726a0f08cd1940b7" /><Relationship Type="http://schemas.openxmlformats.org/officeDocument/2006/relationships/officeDocument" Target="/ppt/presentation.xml" Id="R96bcae8b4fdd44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a557f5e9794066"/>
  </p:sldMasterIdLst>
  <p:notesMasterIdLst>
    <p:notesMasterId xmlns:r="http://schemas.openxmlformats.org/officeDocument/2006/relationships" r:id="Rebe726d701ea499c"/>
  </p:notesMasterIdLst>
  <p:sldIdLst>
    <p:sldId xmlns:r="http://schemas.openxmlformats.org/officeDocument/2006/relationships" id="256" r:id="R354107e3adb446c1"/>
    <p:sldId xmlns:r="http://schemas.openxmlformats.org/officeDocument/2006/relationships" id="257" r:id="R39b0d6d9b1d74adb"/>
    <p:sldId xmlns:r="http://schemas.openxmlformats.org/officeDocument/2006/relationships" id="258" r:id="Rb36d4c93a4984da6"/>
    <p:sldId xmlns:r="http://schemas.openxmlformats.org/officeDocument/2006/relationships" id="259" r:id="Rbb98168593d447e7"/>
    <p:sldId xmlns:r="http://schemas.openxmlformats.org/officeDocument/2006/relationships" id="260" r:id="R3691583cd33147e7"/>
    <p:sldId xmlns:r="http://schemas.openxmlformats.org/officeDocument/2006/relationships" id="261" r:id="R580ab8cb55db4f0b"/>
    <p:sldId xmlns:r="http://schemas.openxmlformats.org/officeDocument/2006/relationships" id="262" r:id="Ra1ee8bae0c414f99"/>
    <p:sldId xmlns:r="http://schemas.openxmlformats.org/officeDocument/2006/relationships" id="263" r:id="Re9da982b98da4b0c"/>
    <p:sldId xmlns:r="http://schemas.openxmlformats.org/officeDocument/2006/relationships" id="264" r:id="R817313b650234bc2"/>
    <p:sldId xmlns:r="http://schemas.openxmlformats.org/officeDocument/2006/relationships" id="265" r:id="Rae697a558d414e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479e3cf1e4436d" /><Relationship Type="http://schemas.openxmlformats.org/officeDocument/2006/relationships/slideMaster" Target="/ppt/slideMasters/slideMaster1.xml" Id="R09a557f5e9794066" /><Relationship Type="http://schemas.openxmlformats.org/officeDocument/2006/relationships/notesMaster" Target="/ppt/notesMasters/notesMaster1.xml" Id="Rebe726d701ea499c" /><Relationship Type="http://schemas.openxmlformats.org/officeDocument/2006/relationships/presProps" Target="/ppt/presProps.xml" Id="R1f44fc750d5244b5" /><Relationship Type="http://schemas.openxmlformats.org/officeDocument/2006/relationships/tableStyles" Target="/ppt/tableStyles.xml" Id="Rc1c9f73feec14179" /><Relationship Type="http://schemas.openxmlformats.org/officeDocument/2006/relationships/slide" Target="/ppt/slides/slide1.xml" Id="R354107e3adb446c1" /><Relationship Type="http://schemas.openxmlformats.org/officeDocument/2006/relationships/slide" Target="/ppt/slides/slide2.xml" Id="R39b0d6d9b1d74adb" /><Relationship Type="http://schemas.openxmlformats.org/officeDocument/2006/relationships/slide" Target="/ppt/slides/slide3.xml" Id="Rb36d4c93a4984da6" /><Relationship Type="http://schemas.openxmlformats.org/officeDocument/2006/relationships/slide" Target="/ppt/slides/slide4.xml" Id="Rbb98168593d447e7" /><Relationship Type="http://schemas.openxmlformats.org/officeDocument/2006/relationships/slide" Target="/ppt/slides/slide5.xml" Id="R3691583cd33147e7" /><Relationship Type="http://schemas.openxmlformats.org/officeDocument/2006/relationships/slide" Target="/ppt/slides/slide6.xml" Id="R580ab8cb55db4f0b" /><Relationship Type="http://schemas.openxmlformats.org/officeDocument/2006/relationships/slide" Target="/ppt/slides/slide7.xml" Id="Ra1ee8bae0c414f99" /><Relationship Type="http://schemas.openxmlformats.org/officeDocument/2006/relationships/slide" Target="/ppt/slides/slide8.xml" Id="Re9da982b98da4b0c" /><Relationship Type="http://schemas.openxmlformats.org/officeDocument/2006/relationships/slide" Target="/ppt/slides/slide9.xml" Id="R817313b650234bc2" /><Relationship Type="http://schemas.openxmlformats.org/officeDocument/2006/relationships/slide" Target="/ppt/slides/slide10.xml" Id="Rae697a558d414e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e2292b68da46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ec6897a0804d13" /><Relationship Type="http://schemas.openxmlformats.org/officeDocument/2006/relationships/notesMaster" Target="/ppt/notesMasters/notesMaster1.xml" Id="R7a4439ef442f44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4185e584134604" /><Relationship Type="http://schemas.openxmlformats.org/officeDocument/2006/relationships/notesMaster" Target="/ppt/notesMasters/notesMaster1.xml" Id="Rdf165c96d3424b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0e2cbe90334982" /><Relationship Type="http://schemas.openxmlformats.org/officeDocument/2006/relationships/notesMaster" Target="/ppt/notesMasters/notesMaster1.xml" Id="Rf698b72d430f4b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8b11d8f2024aa0" /><Relationship Type="http://schemas.openxmlformats.org/officeDocument/2006/relationships/notesMaster" Target="/ppt/notesMasters/notesMaster1.xml" Id="R9d86228a339e46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facbc815614468" /><Relationship Type="http://schemas.openxmlformats.org/officeDocument/2006/relationships/notesMaster" Target="/ppt/notesMasters/notesMaster1.xml" Id="R7d835db1f53d41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8204db67dd407f" /><Relationship Type="http://schemas.openxmlformats.org/officeDocument/2006/relationships/notesMaster" Target="/ppt/notesMasters/notesMaster1.xml" Id="Rad0f930de45846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678673d28948cf" /><Relationship Type="http://schemas.openxmlformats.org/officeDocument/2006/relationships/notesMaster" Target="/ppt/notesMasters/notesMaster1.xml" Id="R408dbc968d9244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9fff66a300434f" /><Relationship Type="http://schemas.openxmlformats.org/officeDocument/2006/relationships/notesMaster" Target="/ppt/notesMasters/notesMaster1.xml" Id="Rd433d592003744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be942e88764df7" /><Relationship Type="http://schemas.openxmlformats.org/officeDocument/2006/relationships/notesMaster" Target="/ppt/notesMasters/notesMaster1.xml" Id="R5d58a3e7db2842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a82331c7394b41" /><Relationship Type="http://schemas.openxmlformats.org/officeDocument/2006/relationships/notesMaster" Target="/ppt/notesMasters/notesMaster1.xml" Id="R7ca671220c434e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0:45. Alcance: ciudad de Nueva York. Fuentes y análisis preparados al 30 de septiembre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1:30. Se busca autorización para fase de validación y diseño. No se atribuyen causas en esta entrega.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1:30. Son datos de contexto con periodos distintos. Fuentes: https://www.census.gov/quickfacts/fact/table/newyorkcitynewyork/ y https://dol.ny.gov/labor-statistics-new-york-city-region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1:45. Fuentes oficiales: https://data.cityofnewyork.us/resource/uip8-fykc.json ; https://data.cityofnewyork.us/resource/cts7-vksw.json ; https://data.cityofnewyork.us/resource/bm4k-52h4.json ; https://data.cityofnewyork.us/resource/f9bf-2cp4.json ; https://reports.collegeboard.org/media/pdf/2024-new-york-sat-suite-of-assessments-annual-report-ADA.pdf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1:30. Resultados calculados sobre archivos incluidos. Las vistas API tenían, al consultar, 141 870 arrestos, 4 551 002 vehículos, 68 273 personas y 478 escuelas. Los recuentos de las vistas pueden cambiar. Manifiesto local registra fecha y hash.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1:30. Notebook ejecutado localmente. Los resultados del extracto son diagnósticos. No se calculan tasas de ciudad a partir de ese subconjunto. El informe enumera las ocho preguntas de negocio sin responderlas.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1:45. College Board advierte por participación y uso de puntajes. Referencia: https://reports.collegeboard.org/media/pdf/2024-new-york-sat-suite-of-assessments-annual-report-ADA.pdf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1:30. Son características verificadas de la sesión local sobre extractos. La memoria del driver no se configuró explícitamente. La clave de persona es serialno + sporder; para vehículos unique_id y para siniestro collision_id. No se atribuye un clúster institucional.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1:45. Las ocho preguntas completas aparecen en el informe. Incluyen concentración y tasas de arrestos, lesiones graves y riesgo vial, contexto ponderado de pobreza y efecto de pilotos. Son acciones propuestas, no efectos probados.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1:30. Cierre y preguntas. Total aproximado: 15 minutos.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198da4c9f4c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52f5deb1c44589" /><Relationship Type="http://schemas.openxmlformats.org/officeDocument/2006/relationships/slideLayout" Target="/ppt/slideLayouts/slideLayout1.xml" Id="R5449d98f054e4c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49d98f054e4c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909afd7ef4dc0" /><Relationship Type="http://schemas.openxmlformats.org/officeDocument/2006/relationships/notesSlide" Target="/ppt/notesSlides/notesSlide1.xml" Id="R41319e1121fb45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6291450364453" /><Relationship Type="http://schemas.openxmlformats.org/officeDocument/2006/relationships/notesSlide" Target="/ppt/notesSlides/notesSlide2.xml" Id="Rcb83d55049c046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d16d0b8af4c7b" /><Relationship Type="http://schemas.openxmlformats.org/officeDocument/2006/relationships/notesSlide" Target="/ppt/notesSlides/notesSlide3.xml" Id="Rfb07f28df11146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cbcc62b1c426b" /><Relationship Type="http://schemas.openxmlformats.org/officeDocument/2006/relationships/notesSlide" Target="/ppt/notesSlides/notesSlide4.xml" Id="Ra71505dcff8c44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081b7d9df49c0" /><Relationship Type="http://schemas.openxmlformats.org/officeDocument/2006/relationships/notesSlide" Target="/ppt/notesSlides/notesSlide5.xml" Id="R60692889e48645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c241100204bfd" /><Relationship Type="http://schemas.openxmlformats.org/officeDocument/2006/relationships/notesSlide" Target="/ppt/notesSlides/notesSlide6.xml" Id="Rdae98e3452b14a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03ca19a37464b" /><Relationship Type="http://schemas.openxmlformats.org/officeDocument/2006/relationships/notesSlide" Target="/ppt/notesSlides/notesSlide7.xml" Id="Re84398f4d17349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a380c5dbb4d8d" /><Relationship Type="http://schemas.openxmlformats.org/officeDocument/2006/relationships/notesSlide" Target="/ppt/notesSlides/notesSlide8.xml" Id="R1e1098177fca4a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e73a9065e43ea" /><Relationship Type="http://schemas.openxmlformats.org/officeDocument/2006/relationships/notesSlide" Target="/ppt/notesSlides/notesSlide9.xml" Id="Rd2166e654f3a436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dea77b5ca4a19" /><Relationship Type="http://schemas.openxmlformats.org/officeDocument/2006/relationships/notesSlide" Target="/ppt/notesSlides/notesSlide10.xml" Id="R4f0bf4d36e1448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6F45B-5B7A-418A-A1EA-7A83336B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367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Plan analítico para Nueva York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AE827-B519-4B73-A117-E75EFA10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9525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315A74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315A74"/>
                </a:solidFill>
                <a:latin typeface="Aptos"/>
                <a:ea typeface="Aptos"/>
                <a:cs typeface="Aptos"/>
              </a:rPr>
              <a:t>Arrestos y seguridad vial</a:t>
            </a:r>
          </a:p>
          <a:p xmlns:a="http://schemas.openxmlformats.org/drawingml/2006/main">
            <a:pPr>
              <a:defRPr sz="2325" b="0">
                <a:solidFill>
                  <a:srgbClr val="315A74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315A74"/>
                </a:solidFill>
                <a:latin typeface="Aptos"/>
                <a:ea typeface="Aptos"/>
                <a:cs typeface="Aptos"/>
              </a:rPr>
              <a:t>Primera entrega | 2 de octubre de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4F34EE-5FF8-4473-B51E-7F7FB085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01 / 10</a:t>
            </a:r>
          </a:p>
        </p:txBody>
      </p:sp>
    </p:spTree>
    <p:extLst>
      <p:ext uri="{BB962C8B-B14F-4D97-AF65-F5344CB8AC3E}">
        <p14:creationId xmlns:p14="http://schemas.microsoft.com/office/powerpoint/2010/main" val="18236902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6F63F-B609-4C69-B619-1E5AB06E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Decisión que necesita el gobierno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B0AEB-D05F-412B-86E7-912DCB3E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Construir indicadores comparables antes de elegir zonas piloto.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BEC21-DB6C-4C35-B6AA-0101424A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Validar colisiones con una tabla por siniestro y resultados de lesiones.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51BD5-6E92-4FAC-8B99-F44E4E67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Revisar equidad, privacidad y cambios de registro policial.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A2787E-98A6-4BB1-954B-14B44F72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02 / 10</a:t>
            </a:r>
          </a:p>
        </p:txBody>
      </p:sp>
    </p:spTree>
    <p:extLst>
      <p:ext uri="{BB962C8B-B14F-4D97-AF65-F5344CB8AC3E}">
        <p14:creationId xmlns:p14="http://schemas.microsoft.com/office/powerpoint/2010/main" val="9003533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C9F01-A211-4D32-955F-FB31F817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Contexto de la ciudad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10BAB9-7AD3-4D87-A35C-42443A9E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8 804 190 habitantes en el Censo 2020.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DEFEE-66A9-4606-BC0D-8B3B90B1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Ingreso mediano de hogares: USD 80 483 (2020–2024, dólares de 2024).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E116E-51D9-4971-802E-F85BE942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Pobreza federal: 17,9 % (QuickFacts).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9DD68-538C-4198-B2BE-75FFE01D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Desempleo de NYC: 4,8 % en agosto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9BCB82-F454-4704-A50F-BDD14EA7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03 / 10</a:t>
            </a:r>
          </a:p>
        </p:txBody>
      </p:sp>
    </p:spTree>
    <p:extLst>
      <p:ext uri="{BB962C8B-B14F-4D97-AF65-F5344CB8AC3E}">
        <p14:creationId xmlns:p14="http://schemas.microsoft.com/office/powerpoint/2010/main" val="18641211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BF958-FC1E-44F5-8749-90676924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Cuatro fuentes, cuatro unidades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B592A-E1C0-40E8-998A-E42C99CE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Arrestos NYPD: un registro de arresto.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8312D9-5C79-483F-9B45-1530CC46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Pobreza NYC 2018: persona con peso de encuesta.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DBC9B-41AA-4B92-B1F4-0E2CF267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Colisiones Vehicles: un vehículo involucrado.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D575A-EA03-4CD3-B6C3-0DEAAA18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SAT 2012: una escuela; SAT 2024: contexto estatal.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F7F98-B036-4F05-9D62-172FD66B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04 / 10</a:t>
            </a:r>
          </a:p>
        </p:txBody>
      </p:sp>
    </p:spTree>
    <p:extLst>
      <p:ext uri="{BB962C8B-B14F-4D97-AF65-F5344CB8AC3E}">
        <p14:creationId xmlns:p14="http://schemas.microsoft.com/office/powerpoint/2010/main" val="2808659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FB655-881D-4595-B5B5-AC79E449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Cobertura de los extractos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04DDE-B55C-4D79-A34C-BADE4242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Arrestos: 10 000 filas, del 1 al 13 de enero de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013FEB-31F1-4F06-B5CF-B6793D44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Vehículos: 3 000 filas, con 2 999 collision_id distintos.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B79F6-AC24-4EEF-BEE8-B1F11D9C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Pobreza: 3 000 filas; SAT 2012: 478 escuelas.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7D73B-C2E1-4F78-B01F-682528B7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Los extractos ordenados por identificador no son muestras aleatorias.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BBB776-2831-40BF-8A2C-8CFE225B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05 / 10</a:t>
            </a:r>
          </a:p>
        </p:txBody>
      </p:sp>
    </p:spTree>
    <p:extLst>
      <p:ext uri="{BB962C8B-B14F-4D97-AF65-F5344CB8AC3E}">
        <p14:creationId xmlns:p14="http://schemas.microsoft.com/office/powerpoint/2010/main" val="653941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C015C-F666-4FFC-AC6E-B6E88F4F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Exploración en 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C84BE-A5E0-4ECB-AAB9-EC3A2C9D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Diez análisis descriptivos y dos gráficas del extracto.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3BF8DE-E63D-4957-9978-CD2081DA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Calidad por campo y supresión de puntajes SAT.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0F59F-8764-4ED5-AE4F-D0A379FC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Diccionario trazable de 111 atributos.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4EFCA-60F0-40D2-B4A7-1186E185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Ocho preguntas abiertas para la entrega final.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E9C6FE-A25B-413D-8673-AB635C7A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06 / 10</a:t>
            </a:r>
          </a:p>
        </p:txBody>
      </p:sp>
    </p:spTree>
    <p:extLst>
      <p:ext uri="{BB962C8B-B14F-4D97-AF65-F5344CB8AC3E}">
        <p14:creationId xmlns:p14="http://schemas.microsoft.com/office/powerpoint/2010/main" val="5287321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FA270-C8E5-46A8-9511-EFF80042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Límites que cambian la interpretación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F7BE-3832-4041-9EAD-B6F19281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Varias filas de vehículos pueden pertenecer al mismo siniestro.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0A0A2-2AF4-4F35-B830-8308B0C4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Arrestos también reflejan prácticas de registro y vigilancia.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BA89B-78C8-45AD-83D9-97A2EA7E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Pobreza 2018 y SAT 2012 no comparten periodo con 2026.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97B70-10CF-47E1-BABD-893566D5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SAT 2024 informa el estado y tiene otra población y escala.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6EFB59-BA32-434F-BF75-54CD0391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07 / 10</a:t>
            </a:r>
          </a:p>
        </p:txBody>
      </p:sp>
    </p:spTree>
    <p:extLst>
      <p:ext uri="{BB962C8B-B14F-4D97-AF65-F5344CB8AC3E}">
        <p14:creationId xmlns:p14="http://schemas.microsoft.com/office/powerpoint/2010/main" val="12503761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519157-359D-4CCA-B2FF-C711E97F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Ejecución y control de calidad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26ED6-524A-4AE8-AAF0-178EE97D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Spark 4.0.1 en modo local[*], observado en esta ejecución.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491BE-0F4B-48D8-B25D-1E194AD3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Paralelismo informado: 16; Python 3.12.14 y Java 22.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5AECF-C8FD-4F53-B612-0AC146BE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Fechas, claves, nulos y valores suprimidos revisados.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36005-20A0-4A87-82EA-04FB5BAD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Los recursos de un clúster remoto no están documentados.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3E363-5245-448C-AEA4-C629028D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08 / 10</a:t>
            </a:r>
          </a:p>
        </p:txBody>
      </p:sp>
    </p:spTree>
    <p:extLst>
      <p:ext uri="{BB962C8B-B14F-4D97-AF65-F5344CB8AC3E}">
        <p14:creationId xmlns:p14="http://schemas.microsoft.com/office/powerpoint/2010/main" val="4669930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F1C18-18FC-4D51-A0AE-A83340D4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Preguntas y plan de acción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5A154-368D-45A2-9D16-0361F8F0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Ocho preguntas para la fase final, sin respuesta aún.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7D160-DBB7-4C3C-BFCC-4302B8B8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Completar la descarga e incorporar Collisions Crashes.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9257E4-9105-4DF3-9AD6-7E54BBAC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Calcular tasas con exposición adecuada.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DFFC8-6FFF-495C-A28A-18ECA198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Diseñar y evaluar pilotos en zonas comparables.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20F0A-B53A-4EF2-8691-5D3C622D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09 / 10</a:t>
            </a:r>
          </a:p>
        </p:txBody>
      </p:sp>
    </p:spTree>
    <p:extLst>
      <p:ext uri="{BB962C8B-B14F-4D97-AF65-F5344CB8AC3E}">
        <p14:creationId xmlns:p14="http://schemas.microsoft.com/office/powerpoint/2010/main" val="21428839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8F92B-A2A8-48E6-A536-4DFC947E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2C3B"/>
                </a:solidFill>
                <a:latin typeface="Aptos"/>
                <a:ea typeface="Aptos"/>
                <a:cs typeface="Aptos"/>
              </a:rPr>
              <a:t>Próxima decisión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C47B0-3F03-45A0-94FD-BC0B074B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Aprobar la validación de datos completos y el diseño de pilotos.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B7011-86FC-4E7D-B933-8CFF1F16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Pedir indicadores con definiciones públicas y controles de calidad.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A3DAC3-0172-4ACC-A300-9E13F36D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10334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2C3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62C3B"/>
                </a:solidFill>
                <a:latin typeface="Aptos"/>
                <a:ea typeface="Aptos"/>
                <a:cs typeface="Aptos"/>
              </a:rPr>
              <a:t>• Posponer un ranking de zonas hasta verificar geografía y denominadores.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741A4-E278-4814-82FF-B152DAC5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286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275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7585"/>
                </a:solidFill>
                <a:latin typeface="Aptos"/>
                <a:ea typeface="Aptos"/>
                <a:cs typeface="Aptos"/>
              </a:rPr>
              <a:t>10 / 10</a:t>
            </a:r>
          </a:p>
        </p:txBody>
      </p:sp>
    </p:spTree>
    <p:extLst>
      <p:ext uri="{BB962C8B-B14F-4D97-AF65-F5344CB8AC3E}">
        <p14:creationId xmlns:p14="http://schemas.microsoft.com/office/powerpoint/2010/main" val="511320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2026-10-03T03:25:53.2890000Z</dcterms:created>
  <dcterms:modified xsi:type="dcterms:W3CDTF">2026-10-03T03:25:53.2890000Z</dcterms:modified>
</coreProperties>
</file>